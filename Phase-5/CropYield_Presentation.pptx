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Season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D9E75"/>
              </a:solidFill>
              <a:effectLst/>
            </c:spPr>
          </c:dPt>
          <c:dPt>
            <c:idx val="1"/>
            <c:bubble3D val="0"/>
            <c:spPr>
              <a:solidFill>
                <a:srgbClr val="378ADD"/>
              </a:solidFill>
              <a:effectLst/>
            </c:spPr>
          </c:dPt>
          <c:dPt>
            <c:idx val="2"/>
            <c:bubble3D val="0"/>
            <c:spPr>
              <a:solidFill>
                <a:srgbClr val="7F77DD"/>
              </a:solidFill>
              <a:effectLst/>
            </c:spPr>
          </c:dPt>
          <c:dPt>
            <c:idx val="3"/>
            <c:bubble3D val="0"/>
            <c:spPr>
              <a:solidFill>
                <a:srgbClr val="D85A30"/>
              </a:solidFill>
              <a:effectLst/>
            </c:spPr>
          </c:dPt>
          <c:dPt>
            <c:idx val="4"/>
            <c:bubble3D val="0"/>
            <c:spPr>
              <a:solidFill>
                <a:srgbClr val="888780"/>
              </a:solidFill>
              <a:effectLst/>
            </c:spPr>
          </c:dPt>
          <c:dPt>
            <c:idx val="5"/>
            <c:bubble3D val="0"/>
            <c:spPr>
              <a:solidFill>
                <a:srgbClr val="EF9F27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Kharif</c:v>
                </c:pt>
                <c:pt idx="1">
                  <c:v>Rabi</c:v>
                </c:pt>
                <c:pt idx="2">
                  <c:v>Whole Year</c:v>
                </c:pt>
                <c:pt idx="3">
                  <c:v>Summer</c:v>
                </c:pt>
                <c:pt idx="4">
                  <c:v>Winter</c:v>
                </c:pt>
                <c:pt idx="5">
                  <c:v>Autumn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42589</c:v>
                </c:pt>
                <c:pt idx="1">
                  <c:v>34820</c:v>
                </c:pt>
                <c:pt idx="2">
                  <c:v>12519</c:v>
                </c:pt>
                <c:pt idx="3">
                  <c:v>5715</c:v>
                </c:pt>
                <c:pt idx="4">
                  <c:v>1692</c:v>
                </c:pt>
                <c:pt idx="5">
                  <c:v>2546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Category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88780"/>
              </a:solidFill>
              <a:effectLst/>
            </c:spPr>
          </c:dPt>
          <c:dPt>
            <c:idx val="1"/>
            <c:bubble3D val="0"/>
            <c:spPr>
              <a:solidFill>
                <a:srgbClr val="1D9E75"/>
              </a:solidFill>
              <a:effectLst/>
            </c:spPr>
          </c:dPt>
          <c:dPt>
            <c:idx val="2"/>
            <c:bubble3D val="0"/>
            <c:spPr>
              <a:solidFill>
                <a:srgbClr val="5DCAA5"/>
              </a:solidFill>
              <a:effectLst/>
            </c:spPr>
          </c:dPt>
          <c:dPt>
            <c:idx val="3"/>
            <c:bubble3D val="0"/>
            <c:spPr>
              <a:solidFill>
                <a:srgbClr val="EF9F27"/>
              </a:solidFill>
              <a:effectLst/>
            </c:spPr>
          </c:dPt>
          <c:dPt>
            <c:idx val="4"/>
            <c:bubble3D val="0"/>
            <c:spPr>
              <a:solidFill>
                <a:srgbClr val="D4537E"/>
              </a:solidFill>
              <a:effectLst/>
            </c:spPr>
          </c:dPt>
          <c:dPt>
            <c:idx val="5"/>
            <c:bubble3D val="0"/>
            <c:spPr>
              <a:solidFill>
                <a:srgbClr val="AFA9E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Sheet1!$A$2:$A$7</c:f>
              <c:strCache>
                <c:ptCount val="6"/>
                <c:pt idx="0">
                  <c:v>Others</c:v>
                </c:pt>
                <c:pt idx="1">
                  <c:v>Cereals</c:v>
                </c:pt>
                <c:pt idx="2">
                  <c:v>Pulses</c:v>
                </c:pt>
                <c:pt idx="3">
                  <c:v>Oilseeds</c:v>
                </c:pt>
                <c:pt idx="4">
                  <c:v>Vegetables</c:v>
                </c:pt>
                <c:pt idx="5">
                  <c:v>Fruits</c:v>
                </c:pt>
              </c:strCache>
            </c:strRef>
          </c:cat>
          <c:val>
            <c:numRef>
              <c:f>Sheet1!$B$2:$B$7</c:f>
              <c:numCache>
                <c:ptCount val="6"/>
                <c:pt idx="0">
                  <c:v>37795</c:v>
                </c:pt>
                <c:pt idx="1">
                  <c:v>30366</c:v>
                </c:pt>
                <c:pt idx="2">
                  <c:v>19228</c:v>
                </c:pt>
                <c:pt idx="3">
                  <c:v>11147</c:v>
                </c:pt>
                <c:pt idx="4">
                  <c:v>1308</c:v>
                </c:pt>
                <c:pt idx="5">
                  <c:v>37</c:v>
                </c:pt>
              </c:numCache>
            </c:numRef>
          </c:val>
        </c:ser>
        <c:firstSliceAng val="0"/>
        <c:holeSize val="52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Yield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1A2E2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6E56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6E5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F6E56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0D5C48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0A4A39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Karnataka</c:v>
                  </c:pt>
                  <c:pt idx="1">
                    <c:v>Bihar</c:v>
                  </c:pt>
                  <c:pt idx="2">
                    <c:v>Andhra Pradesh</c:v>
                  </c:pt>
                  <c:pt idx="3">
                    <c:v>Gujarat</c:v>
                  </c:pt>
                  <c:pt idx="4">
                    <c:v>Arunachal Pradesh</c:v>
                  </c:pt>
                  <c:pt idx="5">
                    <c:v>Haryana</c:v>
                  </c:pt>
                  <c:pt idx="6">
                    <c:v>Goa</c:v>
                  </c:pt>
                  <c:pt idx="7">
                    <c:v>Delhi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1.16</c:v>
                </c:pt>
                <c:pt idx="1">
                  <c:v>1.18</c:v>
                </c:pt>
                <c:pt idx="2">
                  <c:v>1.19</c:v>
                </c:pt>
                <c:pt idx="3">
                  <c:v>1.3</c:v>
                </c:pt>
                <c:pt idx="4">
                  <c:v>1.33</c:v>
                </c:pt>
                <c:pt idx="5">
                  <c:v>1.51</c:v>
                </c:pt>
                <c:pt idx="6">
                  <c:v>1.56</c:v>
                </c:pt>
                <c:pt idx="7">
                  <c:v>1.82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1A2E2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Yield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E2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24B4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F9F2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85FA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Arid
&lt;600mm</c:v>
                  </c:pt>
                  <c:pt idx="1">
                    <c:v>Semi-arid
600-1000mm</c:v>
                  </c:pt>
                  <c:pt idx="2">
                    <c:v>Humid
1000-2000mm</c:v>
                  </c:pt>
                  <c:pt idx="3">
                    <c:v>Very Humid
&gt;2000mm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1.43</c:v>
                </c:pt>
                <c:pt idx="1">
                  <c:v>1.28</c:v>
                </c:pt>
                <c:pt idx="2">
                  <c:v>1.07</c:v>
                </c:pt>
                <c:pt idx="3">
                  <c:v>1.04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E2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Yield (t/ha)</c:v>
                </c:pt>
              </c:strCache>
            </c:strRef>
          </c:tx>
          <c:spPr>
            <a:solidFill>
              <a:srgbClr val="1D9E75"/>
            </a:solidFill>
            <a:ln w="31750" cap="flat">
              <a:solidFill>
                <a:srgbClr val="1D9E7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1997</c:v>
                  </c:pt>
                  <c:pt idx="1">
                    <c:v>1999</c:v>
                  </c:pt>
                  <c:pt idx="2">
                    <c:v>2001</c:v>
                  </c:pt>
                  <c:pt idx="3">
                    <c:v>2003</c:v>
                  </c:pt>
                  <c:pt idx="4">
                    <c:v>2005</c:v>
                  </c:pt>
                  <c:pt idx="5">
                    <c:v>2007</c:v>
                  </c:pt>
                  <c:pt idx="6">
                    <c:v>2009</c:v>
                  </c:pt>
                  <c:pt idx="7">
                    <c:v>2011</c:v>
                  </c:pt>
                  <c:pt idx="8">
                    <c:v>2013</c:v>
                  </c:pt>
                  <c:pt idx="9">
                    <c:v>2015</c:v>
                  </c:pt>
                  <c:pt idx="10">
                    <c:v>2017</c:v>
                  </c:pt>
                  <c:pt idx="11">
                    <c:v>2019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1.09</c:v>
                </c:pt>
                <c:pt idx="1">
                  <c:v>1.08</c:v>
                </c:pt>
                <c:pt idx="2">
                  <c:v>1.04</c:v>
                </c:pt>
                <c:pt idx="3">
                  <c:v>1.09</c:v>
                </c:pt>
                <c:pt idx="4">
                  <c:v>1.06</c:v>
                </c:pt>
                <c:pt idx="5">
                  <c:v>1.13</c:v>
                </c:pt>
                <c:pt idx="6">
                  <c:v>1.1</c:v>
                </c:pt>
                <c:pt idx="7">
                  <c:v>1.16</c:v>
                </c:pt>
                <c:pt idx="8">
                  <c:v>1.2</c:v>
                </c:pt>
                <c:pt idx="9">
                  <c:v>1.14</c:v>
                </c:pt>
                <c:pt idx="10">
                  <c:v>1.19</c:v>
                </c:pt>
                <c:pt idx="11">
                  <c:v>1.19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Score</c:v>
                </c:pt>
              </c:strCache>
            </c:strRef>
          </c:tx>
          <c:spPr>
            <a:solidFill>
              <a:srgbClr val="8887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2E2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8878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78AD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F6E5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Linear
Regression</c:v>
                  </c:pt>
                  <c:pt idx="1">
                    <c:v>Decision
Tree</c:v>
                  </c:pt>
                  <c:pt idx="2">
                    <c:v>Random
Forest</c:v>
                  </c:pt>
                  <c:pt idx="3">
                    <c:v>Gradient
Boosting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0.42</c:v>
                </c:pt>
                <c:pt idx="1">
                  <c:v>0.71</c:v>
                </c:pt>
                <c:pt idx="2">
                  <c:v>0.83</c:v>
                </c:pt>
                <c:pt idx="3">
                  <c:v>0.87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A2E2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9FE1C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2E2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FE1C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FE1C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DCAA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D9E7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F6E56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Season</c:v>
                  </c:pt>
                  <c:pt idx="1">
                    <c:v>State</c:v>
                  </c:pt>
                  <c:pt idx="2">
                    <c:v>Year</c:v>
                  </c:pt>
                  <c:pt idx="3">
                    <c:v>Area</c:v>
                  </c:pt>
                  <c:pt idx="4">
                    <c:v>Crop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0.12</c:v>
                </c:pt>
                <c:pt idx="1">
                  <c:v>0.18</c:v>
                </c:pt>
                <c:pt idx="2">
                  <c:v>0.22</c:v>
                </c:pt>
                <c:pt idx="3">
                  <c:v>0.24</c:v>
                </c:pt>
                <c:pt idx="4">
                  <c:v>0.44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2E2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chart" Target="/ppt/charts/chart7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E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548640"/>
            <a:ext cx="2926080" cy="2926080"/>
          </a:xfrm>
          <a:prstGeom prst="ellipse">
            <a:avLst/>
          </a:prstGeom>
          <a:solidFill>
            <a:srgbClr val="1D9E75">
              <a:alpha val="15000"/>
            </a:srgbClr>
          </a:solidFill>
          <a:ln w="12700">
            <a:solidFill>
              <a:srgbClr val="1D9E75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3200400"/>
            <a:ext cx="1828800" cy="1828800"/>
          </a:xfrm>
          <a:prstGeom prst="ellipse">
            <a:avLst/>
          </a:prstGeom>
          <a:solidFill>
            <a:srgbClr val="EF9F27">
              <a:alpha val="12000"/>
            </a:srgbClr>
          </a:solidFill>
          <a:ln w="12700">
            <a:solidFill>
              <a:srgbClr val="EF9F27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347472"/>
            <a:ext cx="2926080" cy="329184"/>
          </a:xfrm>
          <a:prstGeom prst="rect">
            <a:avLst/>
          </a:prstGeom>
          <a:solidFill>
            <a:srgbClr val="1D9E75">
              <a:alpha val="7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3474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1F5EE"/>
                </a:solidFill>
              </a:rPr>
              <a:t>WALCHAND INSTITUTE OF TECHNOLOGY, SOLAPUR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02920" y="9601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Crop Yield Analysis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rgbClr val="E1F5E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Weather Conditions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502920" y="2450592"/>
            <a:ext cx="502920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606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— ISE Datathon  |  Semester VI  |  Third Year ECE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306324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pPr algn="l" indent="0" marL="0">
              <a:buNone/>
            </a:pPr>
            <a:r>
              <a:rPr lang="en-US" sz="1200" dirty="0">
                <a:solidFill>
                  <a:srgbClr val="ADB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Kaggle — Crop Production India  |  99,881 records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pPr algn="l" indent="0" marL="0">
              <a:buNone/>
            </a:pPr>
            <a:r>
              <a:rPr lang="en-US" sz="1200" dirty="0">
                <a:solidFill>
                  <a:srgbClr val="ADB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Python · Power BI · scikit-learn · Plotly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E1F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pPr algn="l" indent="0" marL="0">
              <a:buNone/>
            </a:pPr>
            <a:r>
              <a:rPr lang="en-US" sz="1200" dirty="0">
                <a:solidFill>
                  <a:srgbClr val="ADBD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1997 – 2019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2926080"/>
            <a:ext cx="1828800" cy="146304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949440" y="292608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99,881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49440" y="3703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1F5EE"/>
                </a:solidFill>
              </a:rPr>
              <a:t>total records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25"/>
          </a:solidFill>
          <a:ln w="12700">
            <a:solidFill>
              <a:srgbClr val="1A2E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64008" cy="45034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40233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0467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261872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agricultural sector employs 60% of the population, yet crop yields remain highly unpredictable due to changing weather patterns. Farmers and policymakers lack data-driven tools to anticipate yield outcomes based on rainfall, temperature, and season — leading to poor planning and food insecurity.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804672"/>
            <a:ext cx="425196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0" y="804672"/>
            <a:ext cx="4251960" cy="38404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804672"/>
            <a:ext cx="4251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Our Objectives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09160" y="1261872"/>
            <a:ext cx="3977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pPr algn="l" indent="0" marL="0">
              <a:buNone/>
            </a:pPr>
            <a:r>
              <a:rPr lang="en-US" sz="1050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how weather variables impact crop yield across Indian states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pPr algn="l" indent="0" marL="0">
              <a:buNone/>
            </a:pPr>
            <a:r>
              <a:rPr lang="en-US" sz="1050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top-performing crops and states using historical data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algn="l" indent="0" marL="0">
              <a:buNone/>
            </a:pPr>
            <a:r>
              <a:rPr lang="en-US" sz="1050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predictive ML models to estimate yield from weather inputs</a:t>
            </a:r>
            <a:endParaRPr lang="en-US" sz="1050" dirty="0"/>
          </a:p>
          <a:p>
            <a:pPr algn="l" indent="0" marL="0">
              <a:buNone/>
            </a:pPr>
            <a:r>
              <a:rPr lang="en-US" sz="10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algn="l" indent="0" marL="0">
              <a:buNone/>
            </a:pPr>
            <a:r>
              <a:rPr lang="en-US" sz="1050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an interactive Power BI dashboard for real-world insight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926080"/>
            <a:ext cx="1920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926080"/>
            <a:ext cx="1920240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318211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D9E75"/>
                </a:solidFill>
              </a:rPr>
              <a:t>17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74320" y="3913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25"/>
                </a:solidFill>
              </a:rPr>
              <a:t>States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4206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65"/>
                </a:solidFill>
              </a:rPr>
              <a:t>across India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441448" y="2926080"/>
            <a:ext cx="1920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441448" y="2926080"/>
            <a:ext cx="1920240" cy="25603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41448" y="318211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85FA5"/>
                </a:solidFill>
              </a:rPr>
              <a:t>53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2441448" y="3913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25"/>
                </a:solidFill>
              </a:rPr>
              <a:t>Crops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441448" y="4206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65"/>
                </a:solidFill>
              </a:rPr>
              <a:t>unique types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608576" y="2926080"/>
            <a:ext cx="1920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608576" y="2926080"/>
            <a:ext cx="1920240" cy="256032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08576" y="318211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EF9F27"/>
                </a:solidFill>
              </a:rPr>
              <a:t>23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4608576" y="3913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25"/>
                </a:solidFill>
              </a:rPr>
              <a:t>Years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08576" y="4206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65"/>
                </a:solidFill>
              </a:rPr>
              <a:t>1997–2019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775704" y="2926080"/>
            <a:ext cx="19202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775704" y="2926080"/>
            <a:ext cx="1920240" cy="25603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75704" y="3182112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85A30"/>
                </a:solidFill>
              </a:rPr>
              <a:t>99K</a:t>
            </a:r>
            <a:endParaRPr lang="en-US" sz="3400" dirty="0"/>
          </a:p>
        </p:txBody>
      </p:sp>
      <p:sp>
        <p:nvSpPr>
          <p:cNvPr id="31" name="Text 29"/>
          <p:cNvSpPr/>
          <p:nvPr/>
        </p:nvSpPr>
        <p:spPr>
          <a:xfrm>
            <a:off x="6775704" y="391363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25"/>
                </a:solidFill>
              </a:rPr>
              <a:t>Records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75704" y="42062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5F6B65"/>
                </a:solidFill>
              </a:rPr>
              <a:t>data points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25"/>
          </a:solidFill>
          <a:ln w="12700">
            <a:solidFill>
              <a:srgbClr val="1A2E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&amp; Methodology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64008" cy="45034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04672"/>
            <a:ext cx="3977640" cy="41148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04672"/>
            <a:ext cx="3977640" cy="3657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04672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Dataset Details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298448"/>
            <a:ext cx="1188720" cy="301752"/>
          </a:xfrm>
          <a:prstGeom prst="rect">
            <a:avLst/>
          </a:prstGeom>
          <a:solidFill>
            <a:srgbClr val="E1F5EE"/>
          </a:solidFill>
          <a:ln w="12700">
            <a:solidFill>
              <a:srgbClr val="C5DDD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9844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E56"/>
                </a:solidFill>
              </a:rPr>
              <a:t>Source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627632" y="1298448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25"/>
                </a:solidFill>
              </a:rPr>
              <a:t>Kaggle — Crop Production India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1691640"/>
            <a:ext cx="1188720" cy="301752"/>
          </a:xfrm>
          <a:prstGeom prst="rect">
            <a:avLst/>
          </a:prstGeom>
          <a:solidFill>
            <a:srgbClr val="E1F5EE"/>
          </a:solidFill>
          <a:ln w="12700">
            <a:solidFill>
              <a:srgbClr val="C5DDD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69164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E56"/>
                </a:solidFill>
              </a:rPr>
              <a:t>Rows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627632" y="169164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25"/>
                </a:solidFill>
              </a:rPr>
              <a:t>99,881 records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084832"/>
            <a:ext cx="1188720" cy="301752"/>
          </a:xfrm>
          <a:prstGeom prst="rect">
            <a:avLst/>
          </a:prstGeom>
          <a:solidFill>
            <a:srgbClr val="E1F5EE"/>
          </a:solidFill>
          <a:ln w="12700">
            <a:solidFill>
              <a:srgbClr val="C5DD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08483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E56"/>
                </a:solidFill>
              </a:rPr>
              <a:t>Columns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627632" y="2084832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25"/>
                </a:solidFill>
              </a:rPr>
              <a:t>17 features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478024"/>
            <a:ext cx="1188720" cy="301752"/>
          </a:xfrm>
          <a:prstGeom prst="rect">
            <a:avLst/>
          </a:prstGeom>
          <a:solidFill>
            <a:srgbClr val="E1F5EE"/>
          </a:solidFill>
          <a:ln w="12700">
            <a:solidFill>
              <a:srgbClr val="C5DDD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478024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E56"/>
                </a:solidFill>
              </a:rPr>
              <a:t>Years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627632" y="2478024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25"/>
                </a:solidFill>
              </a:rPr>
              <a:t>1997 to 2019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2871216"/>
            <a:ext cx="1188720" cy="301752"/>
          </a:xfrm>
          <a:prstGeom prst="rect">
            <a:avLst/>
          </a:prstGeom>
          <a:solidFill>
            <a:srgbClr val="E1F5EE"/>
          </a:solidFill>
          <a:ln w="12700">
            <a:solidFill>
              <a:srgbClr val="C5DD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871216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E56"/>
                </a:solidFill>
              </a:rPr>
              <a:t>States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627632" y="2871216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25"/>
                </a:solidFill>
              </a:rPr>
              <a:t>17 Indian states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264408"/>
            <a:ext cx="1188720" cy="301752"/>
          </a:xfrm>
          <a:prstGeom prst="rect">
            <a:avLst/>
          </a:prstGeom>
          <a:solidFill>
            <a:srgbClr val="E1F5EE"/>
          </a:solidFill>
          <a:ln w="12700">
            <a:solidFill>
              <a:srgbClr val="C5DDD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264408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E56"/>
                </a:solidFill>
              </a:rPr>
              <a:t>Crops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627632" y="3264408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25"/>
                </a:solidFill>
              </a:rPr>
              <a:t>53 unique crops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657600"/>
            <a:ext cx="1188720" cy="301752"/>
          </a:xfrm>
          <a:prstGeom prst="rect">
            <a:avLst/>
          </a:prstGeom>
          <a:solidFill>
            <a:srgbClr val="E1F5EE"/>
          </a:solidFill>
          <a:ln w="12700">
            <a:solidFill>
              <a:srgbClr val="C5DD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657600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E56"/>
                </a:solidFill>
              </a:rPr>
              <a:t>Target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627632" y="3657600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25"/>
                </a:solidFill>
              </a:rPr>
              <a:t>Yield (tonnes/hectare)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4050792"/>
            <a:ext cx="1188720" cy="301752"/>
          </a:xfrm>
          <a:prstGeom prst="rect">
            <a:avLst/>
          </a:prstGeom>
          <a:solidFill>
            <a:srgbClr val="E1F5EE"/>
          </a:solidFill>
          <a:ln w="12700">
            <a:solidFill>
              <a:srgbClr val="C5DD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50792"/>
            <a:ext cx="1188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6E56"/>
                </a:solidFill>
              </a:rPr>
              <a:t>Weather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627632" y="4050792"/>
            <a:ext cx="2514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1A2E25"/>
                </a:solidFill>
              </a:rPr>
              <a:t>Rainfall, Temp, Humidity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0" y="804672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6E56"/>
                </a:solidFill>
              </a:rPr>
              <a:t>Analysis Pipeline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72000" y="1298448"/>
            <a:ext cx="347472" cy="34747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0" y="1298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01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36592" y="1645920"/>
            <a:ext cx="0" cy="256032"/>
          </a:xfrm>
          <a:prstGeom prst="line">
            <a:avLst/>
          </a:prstGeom>
          <a:noFill/>
          <a:ln w="12700">
            <a:solidFill>
              <a:srgbClr val="C5DDD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47488" y="12801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25"/>
                </a:solidFill>
              </a:rPr>
              <a:t>Data Collection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47488" y="15270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F6B65"/>
                </a:solidFill>
              </a:rPr>
              <a:t>Kaggle dataset + synthetic weather data merged by state &amp; year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0" y="1911096"/>
            <a:ext cx="347472" cy="34747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19110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02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736592" y="2258568"/>
            <a:ext cx="0" cy="256032"/>
          </a:xfrm>
          <a:prstGeom prst="line">
            <a:avLst/>
          </a:prstGeom>
          <a:noFill/>
          <a:ln w="12700">
            <a:solidFill>
              <a:srgbClr val="C5DDD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47488" y="189280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25"/>
                </a:solidFill>
              </a:rPr>
              <a:t>Preprocessing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047488" y="21396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F6B65"/>
                </a:solidFill>
              </a:rPr>
              <a:t>Missing values, IQR outlier removal, label encoding, log transforms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572000" y="2523744"/>
            <a:ext cx="347472" cy="34747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72000" y="2523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03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736592" y="2871216"/>
            <a:ext cx="0" cy="256032"/>
          </a:xfrm>
          <a:prstGeom prst="line">
            <a:avLst/>
          </a:prstGeom>
          <a:noFill/>
          <a:ln w="12700">
            <a:solidFill>
              <a:srgbClr val="C5DDD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47488" y="25054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25"/>
                </a:solidFill>
              </a:rPr>
              <a:t>EDA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47488" y="275234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F6B65"/>
                </a:solidFill>
              </a:rPr>
              <a:t>13 visualisations — pie, bar, heatmap, scatter, trend charts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0" y="3136392"/>
            <a:ext cx="347472" cy="34747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0" y="31363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04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4736592" y="3483864"/>
            <a:ext cx="0" cy="256032"/>
          </a:xfrm>
          <a:prstGeom prst="line">
            <a:avLst/>
          </a:prstGeom>
          <a:noFill/>
          <a:ln w="12700">
            <a:solidFill>
              <a:srgbClr val="C5DDD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47488" y="31181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25"/>
                </a:solidFill>
              </a:rPr>
              <a:t>Model Building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047488" y="336499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F6B65"/>
                </a:solidFill>
              </a:rPr>
              <a:t>4 ML models: Linear Regression, Decision Tree, RF, Gradient Boosting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572000" y="3749040"/>
            <a:ext cx="347472" cy="34747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0" y="3749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05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736592" y="4096512"/>
            <a:ext cx="0" cy="256032"/>
          </a:xfrm>
          <a:prstGeom prst="line">
            <a:avLst/>
          </a:prstGeom>
          <a:noFill/>
          <a:ln w="12700">
            <a:solidFill>
              <a:srgbClr val="C5DDD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47488" y="3730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25"/>
                </a:solidFill>
              </a:rPr>
              <a:t>Evaluation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047488" y="397764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F6B65"/>
                </a:solidFill>
              </a:rPr>
              <a:t>R², RMSE, MAE metrics with 5-fold cross-validation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0" y="4361688"/>
            <a:ext cx="347472" cy="347472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0" y="4361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06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5047488" y="43434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25"/>
                </a:solidFill>
              </a:rPr>
              <a:t>Dashboard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047488" y="459028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F6B65"/>
                </a:solidFill>
              </a:rPr>
              <a:t>Interactive Power BI dashboard with slicers and 6 KPI cards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25"/>
          </a:solidFill>
          <a:ln w="12700">
            <a:solidFill>
              <a:srgbClr val="1A2E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 — Distributions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64008" cy="45034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40690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772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Season-wise record share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115568"/>
          <a:ext cx="406908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572000" y="777240"/>
            <a:ext cx="425196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0" y="77724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Crop category share</a:t>
            </a:r>
            <a:endParaRPr lang="en-US" sz="11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572000" y="1115568"/>
          <a:ext cx="425196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274320" y="3017520"/>
            <a:ext cx="85496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274320" y="3017520"/>
            <a:ext cx="8549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Average yield by state (t/ha)</a:t>
            </a:r>
            <a:endParaRPr lang="en-US" sz="1100" dirty="0"/>
          </a:p>
        </p:txBody>
      </p:sp>
      <p:graphicFrame>
        <p:nvGraphicFramePr>
          <p:cNvPr id="13" name="Chart 2" descr=""/>
          <p:cNvGraphicFramePr/>
          <p:nvPr/>
        </p:nvGraphicFramePr>
        <p:xfrm>
          <a:off x="274320" y="3364992"/>
          <a:ext cx="8549640" cy="1508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25"/>
          </a:solidFill>
          <a:ln w="12700">
            <a:solidFill>
              <a:srgbClr val="1A2E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Exploratory Data Analysis — Weather &amp; Yield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64008" cy="45034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406908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7724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Yield by rainfall zone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124712"/>
          <a:ext cx="406908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4572000" y="777240"/>
            <a:ext cx="4251960" cy="2103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0" y="77724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Yield trend over years (1997–2019)</a:t>
            </a:r>
            <a:endParaRPr lang="en-US" sz="11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572000" y="1124712"/>
          <a:ext cx="4251960" cy="1691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274320" y="301752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74320" y="3017520"/>
            <a:ext cx="2788920" cy="128016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318211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25"/>
                </a:solidFill>
              </a:rPr>
              <a:t>Arid zones lead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384048" y="3547872"/>
            <a:ext cx="2578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Surprisingly, arid zones (&lt;600mm) show highest avg yield at 1.43 t/ha, driven by drought-resistant crops like wheat and mustard.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3227832" y="301752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227832" y="3017520"/>
            <a:ext cx="2788920" cy="12801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337560" y="318211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25"/>
                </a:solidFill>
              </a:rPr>
              <a:t>Upward trend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3337560" y="3547872"/>
            <a:ext cx="2578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average yield rose from 1.09 t/ha in 1997 to 1.19 t/ha in 2019 — a 9.2% improvement reflecting better agri practices.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6181344" y="3017520"/>
            <a:ext cx="27889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181344" y="3017520"/>
            <a:ext cx="2788920" cy="128016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91072" y="3182112"/>
            <a:ext cx="25786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E25"/>
                </a:solidFill>
              </a:rPr>
              <a:t>Summer wins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6291072" y="3547872"/>
            <a:ext cx="257860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season crops average 1.79 t/ha — highest of all seasons, driven by targeted irrigation and short-duration, high-yield varieties.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25"/>
          </a:solidFill>
          <a:ln w="12700">
            <a:solidFill>
              <a:srgbClr val="1A2E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Machine Learning — Model Results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64008" cy="450342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53035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777240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Model comparison — R² Score</a:t>
            </a:r>
            <a:endParaRPr lang="en-US" sz="11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124712"/>
          <a:ext cx="5303520" cy="18470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806440" y="777240"/>
            <a:ext cx="30632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806440" y="77724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Metrics summary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06440" y="1161288"/>
          <a:ext cx="3063240" cy="1828800"/>
        </p:xfrm>
        <a:graphic>
          <a:graphicData uri="http://schemas.openxmlformats.org/drawingml/2006/table">
            <a:tbl>
              <a:tblPr/>
              <a:tblGrid>
                <a:gridCol w="1417320"/>
                <a:gridCol w="822960"/>
                <a:gridCol w="822960"/>
              </a:tblGrid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2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25"/>
                    </a:solidFill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25"/>
                          </a:solidFill>
                        </a:rPr>
                        <a:t>Linear Reg.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25"/>
                          </a:solidFill>
                        </a:rPr>
                        <a:t>0.42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25"/>
                          </a:solidFill>
                        </a:rPr>
                        <a:t>0.87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25"/>
                          </a:solidFill>
                        </a:rPr>
                        <a:t>Decision Tree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25"/>
                          </a:solidFill>
                        </a:rPr>
                        <a:t>0.71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25"/>
                          </a:solidFill>
                        </a:rPr>
                        <a:t>0.62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25"/>
                          </a:solidFill>
                        </a:rPr>
                        <a:t>Random Forest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25"/>
                          </a:solidFill>
                        </a:rPr>
                        <a:t>0.83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E25"/>
                          </a:solidFill>
                        </a:rPr>
                        <a:t>0.48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66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Gradient Boost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0.87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0.43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8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9E75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274320" y="3200400"/>
            <a:ext cx="36576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274320" y="3200400"/>
            <a:ext cx="3657600" cy="3474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274320" y="320040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Best Model: Gradient Boosting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11480" y="3621024"/>
            <a:ext cx="33832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A2E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0.87  ·  RMSE = 0.43  ·  MAE = 0.31
</a:t>
            </a:r>
            <a:pPr algn="l" indent="0" marL="0">
              <a:buNone/>
            </a:pPr>
            <a:r>
              <a:rPr lang="en-US" sz="10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because it handles non-linear interactions between crop type, season, and weather — and consistently scores best on 5-fold cross-validation without overfitting.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160520" y="3200400"/>
            <a:ext cx="466344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160520" y="320040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6E56"/>
                </a:solidFill>
              </a:rPr>
              <a:t>Feature importance — Random Forest</a:t>
            </a:r>
            <a:endParaRPr lang="en-US" sz="1100" dirty="0"/>
          </a:p>
        </p:txBody>
      </p:sp>
      <p:graphicFrame>
        <p:nvGraphicFramePr>
          <p:cNvPr id="17" name="Chart 1" descr=""/>
          <p:cNvGraphicFramePr/>
          <p:nvPr/>
        </p:nvGraphicFramePr>
        <p:xfrm>
          <a:off x="4160520" y="3547872"/>
          <a:ext cx="4663440" cy="138988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A2E25"/>
          </a:solidFill>
          <a:ln w="12700">
            <a:solidFill>
              <a:srgbClr val="1A2E2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 &amp; Recommendations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0" y="640080"/>
            <a:ext cx="64008" cy="450342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22960"/>
            <a:ext cx="42062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38912" cy="129844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822960"/>
            <a:ext cx="4389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41648" y="896112"/>
            <a:ext cx="384048" cy="228600"/>
          </a:xfrm>
          <a:prstGeom prst="rect">
            <a:avLst/>
          </a:prstGeom>
          <a:solidFill>
            <a:srgbClr val="1D9E75">
              <a:alpha val="80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41648" y="8961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Finding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804672" y="8778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E25"/>
                </a:solidFill>
              </a:rPr>
              <a:t>Crop type is the #1 yield predictor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4672" y="1207008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44% feature importance, the crop grown matters more than any weather variable. Matching the right crop to a region's natural conditions is the single highest-leverage decision.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822960"/>
            <a:ext cx="42062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822960"/>
            <a:ext cx="438912" cy="129844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822960"/>
            <a:ext cx="4389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476488" y="896112"/>
            <a:ext cx="384048" cy="228600"/>
          </a:xfrm>
          <a:prstGeom prst="rect">
            <a:avLst/>
          </a:prstGeom>
          <a:solidFill>
            <a:srgbClr val="185FA5">
              <a:alpha val="80000"/>
            </a:srgbClr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76488" y="89611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Finding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5239512" y="8778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E25"/>
                </a:solidFill>
              </a:rPr>
              <a:t>Cereals are the backbone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39512" y="1207008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30.4% of all records and avg yield of 1.55 t/ha, cereal crops (rice, wheat, maize) dominate production. They are most sensitive to rainfall and temperature shifts.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240280"/>
            <a:ext cx="42062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2240280"/>
            <a:ext cx="438912" cy="129844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40280"/>
            <a:ext cx="4389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041648" y="2313432"/>
            <a:ext cx="384048" cy="228600"/>
          </a:xfrm>
          <a:prstGeom prst="rect">
            <a:avLst/>
          </a:prstGeom>
          <a:solidFill>
            <a:srgbClr val="EF9F27">
              <a:alpha val="80000"/>
            </a:srgbClr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41648" y="231343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Opportunity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804672" y="22951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E25"/>
                </a:solidFill>
              </a:rPr>
              <a:t>Vegetables punch above their weight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4672" y="2624328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Vegetables make up only 1.3% of records but deliver the highest avg yield at 2.50 t/ha — signalling a massive underutilised opportunity in high-value horticulture.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2240280"/>
            <a:ext cx="42062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09160" y="2240280"/>
            <a:ext cx="438912" cy="129844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9160" y="2240280"/>
            <a:ext cx="4389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476488" y="2313432"/>
            <a:ext cx="384048" cy="228600"/>
          </a:xfrm>
          <a:prstGeom prst="rect">
            <a:avLst/>
          </a:prstGeom>
          <a:solidFill>
            <a:srgbClr val="D85A30">
              <a:alpha val="80000"/>
            </a:srgbClr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76488" y="231343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Recommendation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5239512" y="229514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E25"/>
                </a:solidFill>
              </a:rPr>
              <a:t>Summer irrigated farming outperforms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239512" y="2624328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season yields average 1.79 t/ha — beating Kharif (1.02) and Rabi (1.06). Investing in irrigation infrastructure can replicate this edge year-round.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3657600"/>
            <a:ext cx="42062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74320" y="3657600"/>
            <a:ext cx="438912" cy="1298448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3657600"/>
            <a:ext cx="4389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041648" y="3730752"/>
            <a:ext cx="384048" cy="228600"/>
          </a:xfrm>
          <a:prstGeom prst="rect">
            <a:avLst/>
          </a:prstGeom>
          <a:solidFill>
            <a:srgbClr val="7F77DD">
              <a:alpha val="80000"/>
            </a:srgbClr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41648" y="373075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Best Practice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804672" y="37124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E25"/>
                </a:solidFill>
              </a:rPr>
              <a:t>Haryana and Goa lead smaller states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04672" y="4041648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avg yields of 1.51 and 1.56 t/ha respectively, these states punch above their size. Their farming practices and crop portfolios should be studied and replicated.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709160" y="3657600"/>
            <a:ext cx="420624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0E8E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709160" y="3657600"/>
            <a:ext cx="438912" cy="1298448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3657600"/>
            <a:ext cx="43891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476488" y="3730752"/>
            <a:ext cx="384048" cy="228600"/>
          </a:xfrm>
          <a:prstGeom prst="rect">
            <a:avLst/>
          </a:prstGeom>
          <a:solidFill>
            <a:srgbClr val="0F6E56">
              <a:alpha val="80000"/>
            </a:srgbClr>
          </a:solidFill>
          <a:ln w="12700">
            <a:solidFill>
              <a:srgbClr val="0F6E5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76488" y="3730752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Trend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5239512" y="371246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A2E25"/>
                </a:solidFill>
              </a:rPr>
              <a:t>Yield rose 9.2% over two decades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239512" y="4041648"/>
            <a:ext cx="3200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5F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1.09 t/ha in 1997 to 1.19 t/ha in 2019, the improvement is steady but slow. Technology adoption (precision agriculture, weather forecasting) can accelerate this.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E2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731520" y="1371600"/>
            <a:ext cx="3200400" cy="3200400"/>
          </a:xfrm>
          <a:prstGeom prst="ellipse">
            <a:avLst/>
          </a:prstGeom>
          <a:solidFill>
            <a:srgbClr val="1D9E75">
              <a:alpha val="10000"/>
            </a:srgbClr>
          </a:solidFill>
          <a:ln w="12700">
            <a:solidFill>
              <a:srgbClr val="1D9E75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-457200"/>
            <a:ext cx="2286000" cy="2286000"/>
          </a:xfrm>
          <a:prstGeom prst="ellipse">
            <a:avLst/>
          </a:prstGeom>
          <a:solidFill>
            <a:srgbClr val="EF9F27">
              <a:alpha val="10000"/>
            </a:srgbClr>
          </a:solidFill>
          <a:ln w="12700">
            <a:solidFill>
              <a:srgbClr val="EF9F27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274320" cy="27432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868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41248" y="8503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type is the dominant predictor of yield, contributing 44% feature importance — season, rainfall zone, and farm size follow.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27048"/>
            <a:ext cx="274320" cy="27432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527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41248" y="1508760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achieved the best predictive performance with R² = 0.87 and RMSE = 0.43, making it suitable for real-world yield forecasting.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185416"/>
            <a:ext cx="274320" cy="27432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185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41248" y="21671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Vegetables and summer-season crops are significantly underrepresented yet deliver the highest yields — a major opportunity for agricultural policy.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843784"/>
            <a:ext cx="274320" cy="274320"/>
          </a:xfrm>
          <a:prstGeom prst="ellipse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843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41248" y="2825496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8D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9.2% national yield improvement over 23 years is positive but slow — precision agriculture and data-driven crop selection can accelerate growth.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520440"/>
            <a:ext cx="8229600" cy="594360"/>
          </a:xfrm>
          <a:prstGeom prst="rect">
            <a:avLst/>
          </a:prstGeom>
          <a:solidFill>
            <a:srgbClr val="1D9E75">
              <a:alpha val="85000"/>
            </a:srgbClr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20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Future Work: Integrate real-time satellite weather data · Expand to all 29 states · Deploy as a web app with live Kaggle API data feed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solidFill>
            <a:srgbClr val="0A1A12"/>
          </a:solidFill>
          <a:ln w="12700">
            <a:solidFill>
              <a:srgbClr val="0A1A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42519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Walchand Institute of Technology, Solapur  </a:t>
            </a:r>
            <a:pPr algn="ctr" indent="0" marL="0">
              <a:buNone/>
            </a:pPr>
            <a:r>
              <a:rPr lang="en-US" sz="1050" dirty="0">
                <a:solidFill>
                  <a:srgbClr val="7AB89E"/>
                </a:solidFill>
              </a:rPr>
              <a:t> |  Data Analytics — Datathon 2026  </a:t>
            </a:r>
            <a:pPr algn="ctr" indent="0" marL="0">
              <a:buNone/>
            </a:pPr>
            <a:r>
              <a:rPr lang="en-US" sz="1050" dirty="0">
                <a:solidFill>
                  <a:srgbClr val="7AB89E"/>
                </a:solidFill>
              </a:rPr>
              <a:t> |  Semester VI — Third Year ECE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Crop Yield Analysis with Weather Conditions</dc:title>
  <dc:subject>PptxGenJS Presentation</dc:subject>
  <dc:creator>WIT Solapur — Data Analytics Team</dc:creator>
  <cp:lastModifiedBy>WIT Solapur — Data Analytics Team</cp:lastModifiedBy>
  <cp:revision>1</cp:revision>
  <dcterms:created xsi:type="dcterms:W3CDTF">2026-04-12T15:05:49Z</dcterms:created>
  <dcterms:modified xsi:type="dcterms:W3CDTF">2026-04-12T15:05:49Z</dcterms:modified>
</cp:coreProperties>
</file>